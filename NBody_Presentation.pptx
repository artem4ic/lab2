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 выполнял задачу номер два — моделирование гравитационного движения N тел. Реализованы последовательная и параллельная версии на C с POSIX Threads. Программа получает массы, координаты и скорости тел, рассчитывает движение в трёх измерениях и сохраняет траектории в CSV.</a:t>
            </a:r>
          </a:p>
          <a:p/>
          <a:p>
            <a:r>
              <a:t>Подготовка начинается с Get_options: она разбирает аргументы запуска и проверяет параметры. Read_bodies загружает начальные данные и проверяет массы, координаты и скорости. На каждом шаге Next_time выбирает следующий момент модельного времени; последний шаг при необходимости сокращается.</a:t>
            </a:r>
          </a:p>
          <a:p/>
          <a:p>
            <a:r>
              <a:t>В последовательной версии Compute_forces обходит пары тел. Для каждой пары общая функция Pair_force рассчитывает силу по закону всемирного тяготения. Учитываются только пары i меньше j: одна сила добавляется первому телу и вычитается у второго. Update_body выполняет шаг явного Эйлера: сначала изменяет координаты по старой скорости, затем обновляет скорость. Write_state записывает время и координаты в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параллельной версии pthread_create создаёт работников перед циклом моделирования, а их основная работа находится в Thread_work. Пары распределяются циклически; каждый работник накапливает силы в личном массиве, чтобы избежать одновременной записи в общую сумму.</a:t>
            </a:r>
          </a:p>
          <a:p/>
          <a:p>
            <a:r>
              <a:t>Wait_barrier синхронизирует участников. За обычный шаг один барьер проходится трижды: старт, готовность сил и готовность новых состояний. Между вторым и третьим проходами работники собирают частичные силы и вызывают Update_body для непересекающихся диапазонов тел. Главный поток записывает результат через Write_state, а после завершения ожидает работников через pthread_join.</a:t>
            </a:r>
          </a:p>
          <a:p/>
          <a:p>
            <a:r>
              <a:t>Макрос GET_TIME из timer.h измеряет интервалы внутри C-программы. Для ускорения используется вычислительное время с барьерами, но без записи CSV. Python организует повторные запуски: generate создаёт входные данные, compare сопоставляет траектории с допуском, а основной код benchmark.py собирает времена и статистику.</a:t>
            </a:r>
          </a:p>
          <a:p/>
          <a:p>
            <a:r>
              <a:t>Замеры выполнены на Intel Core i5-13420H, в Ubuntu под WSL 2. Сравнивались 128 и 2048 тел при одном, двух, четырёх и восьми рабочих потоках. Для каждой конфигурации — один прогрев и пять измерений; использовано среднее. При конечном времени одна секунда и шаге 0,0625 получилось 16 шагов.</a:t>
            </a:r>
          </a:p>
          <a:p/>
          <a:p>
            <a:r>
              <a:t>Для 2048 тел на восьми потоках ускорение составило около 4,34 раза, эффективность — 54,2 процента. Для 128 тел устойчивого выигрыша нет из-за накладных расходов. Метод Эйлера остаётся приближённым, поэтому точность зависит от шага; столкновения тел не моделируются.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058400" cy="20116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A6C73"/>
                </a:solidFill>
                <a:latin typeface="Arial"/>
              </a:defRPr>
            </a:pPr>
            <a:r>
              <a:t>ЗАДАЧА №2 · N ТЕЛ · ПОСЛЕДОВАТЕЛЬНЫЙ РАСЧЁТ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201400" cy="60350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3202A"/>
                </a:solidFill>
                <a:latin typeface="Arial"/>
              </a:defRPr>
            </a:pPr>
            <a:r>
              <a:t>От начальных данных — к траектории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11183112" cy="594360"/>
          </a:xfrm>
          <a:prstGeom prst="roundRect">
            <a:avLst>
              <a:gd name="adj" fmla="val 8000"/>
            </a:avLst>
          </a:prstGeom>
          <a:solidFill>
            <a:srgbClr val="D5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636776"/>
            <a:ext cx="10789920" cy="21945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A6C73"/>
                </a:solidFill>
                <a:latin typeface="Arial"/>
              </a:defRPr>
            </a:pPr>
            <a:r>
              <a:t>Вход: N, массы, координаты, скорости, tend и dt. Сначала записывается состояние t = 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23744"/>
            <a:ext cx="2596896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2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679192"/>
            <a:ext cx="457200" cy="2286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9501A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044952"/>
            <a:ext cx="2276856" cy="32918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3202A"/>
                </a:solidFill>
                <a:latin typeface="Arial"/>
              </a:defRPr>
            </a:pPr>
            <a:r>
              <a:t>Шаг времени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602736"/>
            <a:ext cx="2267712" cy="56692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3202A"/>
                </a:solidFill>
                <a:latin typeface="Arial"/>
              </a:defRPr>
            </a:pPr>
            <a:r>
              <a:t>Выбрать next ≤ tend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3202A"/>
                </a:solidFill>
                <a:latin typeface="Arial"/>
              </a:defRPr>
            </a:pPr>
            <a:r>
              <a:t>h = next −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4242816"/>
            <a:ext cx="2286000" cy="14630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36471"/>
                </a:solidFill>
                <a:latin typeface="Consolas"/>
              </a:defRPr>
            </a:pPr>
            <a:r>
              <a:t>Next_time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3172968" y="3300984"/>
            <a:ext cx="109728" cy="192024"/>
          </a:xfrm>
          <a:prstGeom prst="triangle">
            <a:avLst/>
          </a:prstGeom>
          <a:solidFill>
            <a:srgbClr val="0A6C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64991" y="2523744"/>
            <a:ext cx="2596896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2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2679192"/>
            <a:ext cx="457200" cy="2286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9501A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3044952"/>
            <a:ext cx="2276856" cy="32918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3202A"/>
                </a:solidFill>
                <a:latin typeface="Arial"/>
              </a:defRPr>
            </a:pPr>
            <a:r>
              <a:t>Силы всех пар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3602736"/>
            <a:ext cx="2267712" cy="56692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3202A"/>
                </a:solidFill>
                <a:latin typeface="Arial"/>
              </a:defRPr>
            </a:pPr>
            <a:r>
              <a:t>Только i &lt; j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3202A"/>
                </a:solidFill>
                <a:latin typeface="Arial"/>
              </a:defRPr>
            </a:pPr>
            <a:r>
              <a:t>Одному +F, другому −F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9584" y="4242816"/>
            <a:ext cx="2286000" cy="14630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36471"/>
                </a:solidFill>
                <a:latin typeface="Consolas"/>
              </a:defRPr>
            </a:pPr>
            <a:r>
              <a:t>Compute_forces / Pair_force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6035040" y="3300984"/>
            <a:ext cx="109728" cy="192024"/>
          </a:xfrm>
          <a:prstGeom prst="triangle">
            <a:avLst/>
          </a:prstGeom>
          <a:solidFill>
            <a:srgbClr val="0A6C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27064" y="2523744"/>
            <a:ext cx="2596896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2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5" y="2679192"/>
            <a:ext cx="457200" cy="2286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9501A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3044952"/>
            <a:ext cx="2276856" cy="32918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3202A"/>
                </a:solidFill>
                <a:latin typeface="Arial"/>
              </a:defRPr>
            </a:pPr>
            <a:r>
              <a:t>Шаг Эйлера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3602736"/>
            <a:ext cx="2267712" cy="56692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3202A"/>
                </a:solidFill>
                <a:latin typeface="Arial"/>
              </a:defRPr>
            </a:pPr>
            <a:r>
              <a:t>Новые r и v —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3202A"/>
                </a:solidFill>
                <a:latin typeface="Arial"/>
              </a:defRPr>
            </a:pPr>
            <a:r>
              <a:t>по старому состоянию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5" y="4242816"/>
            <a:ext cx="2286000" cy="14630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36471"/>
                </a:solidFill>
                <a:latin typeface="Consolas"/>
              </a:defRPr>
            </a:pPr>
            <a:r>
              <a:t>Update_body</a:t>
            </a:r>
          </a:p>
        </p:txBody>
      </p:sp>
      <p:sp>
        <p:nvSpPr>
          <p:cNvPr id="23" name="Isosceles Triangle 22"/>
          <p:cNvSpPr/>
          <p:nvPr/>
        </p:nvSpPr>
        <p:spPr>
          <a:xfrm rot="5400000">
            <a:off x="8897112" y="3300984"/>
            <a:ext cx="109728" cy="192024"/>
          </a:xfrm>
          <a:prstGeom prst="triangle">
            <a:avLst/>
          </a:prstGeom>
          <a:solidFill>
            <a:srgbClr val="0A6C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089136" y="2523744"/>
            <a:ext cx="2596896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2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53728" y="2679192"/>
            <a:ext cx="457200" cy="2286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9501A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3728" y="3044952"/>
            <a:ext cx="2276856" cy="32918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3202A"/>
                </a:solidFill>
                <a:latin typeface="Arial"/>
              </a:defRPr>
            </a:pPr>
            <a:r>
              <a:t>Строка CSV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602736"/>
            <a:ext cx="2267712" cy="56692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3202A"/>
                </a:solidFill>
                <a:latin typeface="Arial"/>
              </a:defRPr>
            </a:pPr>
            <a:r>
              <a:t>Новое время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3202A"/>
                </a:solidFill>
                <a:latin typeface="Arial"/>
              </a:defRPr>
            </a:pPr>
            <a:r>
              <a:t>и координаты всех тел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3728" y="4242816"/>
            <a:ext cx="2286000" cy="14630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36471"/>
                </a:solidFill>
                <a:latin typeface="Consolas"/>
              </a:defRPr>
            </a:pPr>
            <a:r>
              <a:t>Write_state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387584" y="4517136"/>
            <a:ext cx="0" cy="274320"/>
          </a:xfrm>
          <a:prstGeom prst="line">
            <a:avLst/>
          </a:prstGeom>
          <a:ln w="22860">
            <a:solidFill>
              <a:srgbClr val="0A6C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792224" y="4791456"/>
            <a:ext cx="8595360" cy="0"/>
          </a:xfrm>
          <a:prstGeom prst="line">
            <a:avLst/>
          </a:prstGeom>
          <a:ln w="22860">
            <a:solidFill>
              <a:srgbClr val="0A6C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792224" y="4562856"/>
            <a:ext cx="0" cy="228600"/>
          </a:xfrm>
          <a:prstGeom prst="line">
            <a:avLst/>
          </a:prstGeom>
          <a:ln w="22860">
            <a:solidFill>
              <a:srgbClr val="0A6C7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>
            <a:off x="1728216" y="4517136"/>
            <a:ext cx="128016" cy="109728"/>
          </a:xfrm>
          <a:prstGeom prst="triangle">
            <a:avLst/>
          </a:prstGeom>
          <a:solidFill>
            <a:srgbClr val="0A6C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0" y="4882896"/>
            <a:ext cx="5577840" cy="2286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0A6C73"/>
                </a:solidFill>
                <a:latin typeface="Arial"/>
              </a:defRPr>
            </a:pPr>
            <a:r>
              <a:t>Повторять шаги, пока time &lt; tend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422392"/>
            <a:ext cx="11183112" cy="630936"/>
          </a:xfrm>
          <a:prstGeom prst="roundRect">
            <a:avLst>
              <a:gd name="adj" fmla="val 8000"/>
            </a:avLst>
          </a:prstGeom>
          <a:solidFill>
            <a:srgbClr val="1421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614416"/>
            <a:ext cx="5943600" cy="2286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onsolas"/>
              </a:defRPr>
            </a:pPr>
            <a:r>
              <a:t>r_new = r_old + v_old ·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614416"/>
            <a:ext cx="5394960" cy="2286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FFFFFF"/>
                </a:solidFill>
                <a:latin typeface="Consolas"/>
              </a:defRPr>
            </a:pPr>
            <a:r>
              <a:t>v_new = v_old + (F_old / m) · 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7" y="6163056"/>
            <a:ext cx="10972800" cy="16459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36471"/>
                </a:solidFill>
                <a:latin typeface="Arial"/>
              </a:defRPr>
            </a:pPr>
            <a:r>
              <a:t>Физика — 3D. CSV по умолчанию: t,x1,y1,x2,y2,…; режим xyz сохраняет все координаты.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02920" y="6437376"/>
            <a:ext cx="11183112" cy="0"/>
          </a:xfrm>
          <a:prstGeom prst="line">
            <a:avLst/>
          </a:prstGeom>
          <a:ln w="15240">
            <a:solidFill>
              <a:srgbClr val="D2DA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02920" y="6519672"/>
            <a:ext cx="8229600" cy="16459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36471"/>
                </a:solidFill>
                <a:latin typeface="Arial"/>
              </a:defRPr>
            </a:pPr>
            <a:r>
              <a:t>Артём Линник · 23КНТ3 · Лабораторная №1 / задача №2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92240"/>
            <a:ext cx="594360" cy="210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0A6C73"/>
                </a:solidFill>
                <a:latin typeface="Arial"/>
              </a:defRPr>
            </a:pPr>
            <a:r>
              <a:t>1 /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0116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A6C73"/>
                </a:solidFill>
                <a:latin typeface="Arial"/>
              </a:defRPr>
            </a:pPr>
            <a:r>
              <a:t>PTHREADS · ЛИЧНЫЕ МАССИВЫ СИЛ · ОДИН ОБЪЕКТ БАРЬЕРА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76656"/>
            <a:ext cx="11247120" cy="60350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3202A"/>
                </a:solidFill>
                <a:latin typeface="Arial"/>
              </a:defRPr>
            </a:pPr>
            <a:r>
              <a:t>Параллельный шаг: три общие встречи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353312"/>
            <a:ext cx="11064240" cy="2286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36471"/>
                </a:solidFill>
                <a:latin typeface="Arial"/>
              </a:defRPr>
            </a:pPr>
            <a:r>
              <a:t>Схема фаз для P = 3: три рабочих + главный. Потоки создаются один раз на всё моделирование.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7672" y="1810512"/>
            <a:ext cx="1920240" cy="2377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A6C73"/>
                </a:solidFill>
                <a:latin typeface="Arial"/>
              </a:defRPr>
            </a:pPr>
            <a:r>
              <a:t>1 · Старт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07792" y="2148840"/>
            <a:ext cx="0" cy="2386584"/>
          </a:xfrm>
          <a:prstGeom prst="line">
            <a:avLst/>
          </a:prstGeom>
          <a:ln w="16510">
            <a:solidFill>
              <a:srgbClr val="0A6C7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0" y="1810512"/>
            <a:ext cx="1920240" cy="2377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A6C73"/>
                </a:solidFill>
                <a:latin typeface="Arial"/>
              </a:defRPr>
            </a:pPr>
            <a:r>
              <a:t>2 · Силы готовы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55080" y="2148840"/>
            <a:ext cx="0" cy="2386584"/>
          </a:xfrm>
          <a:prstGeom prst="line">
            <a:avLst/>
          </a:prstGeom>
          <a:ln w="16510">
            <a:solidFill>
              <a:srgbClr val="0A6C7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778240" y="1810512"/>
            <a:ext cx="1920240" cy="2377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A6C73"/>
                </a:solidFill>
                <a:latin typeface="Arial"/>
              </a:defRPr>
            </a:pPr>
            <a:r>
              <a:t>3 · Тела готовы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38360" y="2148840"/>
            <a:ext cx="0" cy="2386584"/>
          </a:xfrm>
          <a:prstGeom prst="line">
            <a:avLst/>
          </a:prstGeom>
          <a:ln w="16510">
            <a:solidFill>
              <a:srgbClr val="0A6C7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1207" y="2441448"/>
            <a:ext cx="1280160" cy="2377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9501A"/>
                </a:solidFill>
                <a:latin typeface="Arial"/>
              </a:defRPr>
            </a:pPr>
            <a:r>
              <a:t>Главный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874519" y="2871215"/>
            <a:ext cx="9784081" cy="0"/>
          </a:xfrm>
          <a:prstGeom prst="line">
            <a:avLst/>
          </a:prstGeom>
          <a:ln w="7620">
            <a:solidFill>
              <a:srgbClr val="D2DA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901952" y="2331720"/>
            <a:ext cx="777240" cy="475488"/>
          </a:xfrm>
          <a:prstGeom prst="roundRect">
            <a:avLst>
              <a:gd name="adj" fmla="val 6000"/>
            </a:avLst>
          </a:prstGeom>
          <a:solidFill>
            <a:srgbClr val="F6E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38528" y="2468879"/>
            <a:ext cx="704088" cy="18288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B9501A"/>
                </a:solidFill>
                <a:latin typeface="Arial"/>
              </a:defRPr>
            </a:pPr>
            <a:r>
              <a:t>Задать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459736"/>
            <a:ext cx="2971800" cy="210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36471"/>
                </a:solidFill>
                <a:latin typeface="Arial"/>
              </a:defRPr>
            </a:pPr>
            <a:r>
              <a:t>Ожидает готовности сил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536" y="2459736"/>
            <a:ext cx="2926080" cy="210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536471"/>
                </a:solidFill>
                <a:latin typeface="Arial"/>
              </a:defRPr>
            </a:pPr>
            <a:r>
              <a:t>Ожидает обновления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85248" y="2331720"/>
            <a:ext cx="1399032" cy="475488"/>
          </a:xfrm>
          <a:prstGeom prst="roundRect">
            <a:avLst>
              <a:gd name="adj" fmla="val 6000"/>
            </a:avLst>
          </a:prstGeom>
          <a:solidFill>
            <a:srgbClr val="F6E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6688" y="2450591"/>
            <a:ext cx="1207008" cy="210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9501A"/>
                </a:solidFill>
                <a:latin typeface="Arial"/>
              </a:defRPr>
            </a:pPr>
            <a:r>
              <a:t>Записать 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7" y="3017520"/>
            <a:ext cx="1280160" cy="2377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3202A"/>
                </a:solidFill>
                <a:latin typeface="Arial"/>
              </a:defRPr>
            </a:pPr>
            <a:r>
              <a:t>Рабочий 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74519" y="3447288"/>
            <a:ext cx="9784081" cy="0"/>
          </a:xfrm>
          <a:prstGeom prst="line">
            <a:avLst/>
          </a:prstGeom>
          <a:ln w="7620">
            <a:solidFill>
              <a:srgbClr val="D2DA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108960" y="2907792"/>
            <a:ext cx="2990088" cy="475488"/>
          </a:xfrm>
          <a:prstGeom prst="roundRect">
            <a:avLst>
              <a:gd name="adj" fmla="val 6000"/>
            </a:avLst>
          </a:prstGeom>
          <a:solidFill>
            <a:srgbClr val="D5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0" y="3035808"/>
            <a:ext cx="2798064" cy="210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0A6C73"/>
                </a:solidFill>
                <a:latin typeface="Arial"/>
              </a:defRPr>
            </a:pPr>
            <a:r>
              <a:t>Пары → личный массив сил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74536" y="2907792"/>
            <a:ext cx="292608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2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56832" y="3035808"/>
            <a:ext cx="2761488" cy="210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02A"/>
                </a:solidFill>
                <a:latin typeface="Arial"/>
              </a:defRPr>
            </a:pPr>
            <a:r>
              <a:t>Собрать F → обновить тела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3035808"/>
            <a:ext cx="1600200" cy="20116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36471"/>
                </a:solidFill>
                <a:latin typeface="Arial"/>
              </a:defRPr>
            </a:pPr>
            <a:r>
              <a:t>Ждать новый шаг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7" y="3593592"/>
            <a:ext cx="1280160" cy="2377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3202A"/>
                </a:solidFill>
                <a:latin typeface="Arial"/>
              </a:defRPr>
            </a:pPr>
            <a:r>
              <a:t>Рабочий 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874519" y="4023360"/>
            <a:ext cx="9784081" cy="0"/>
          </a:xfrm>
          <a:prstGeom prst="line">
            <a:avLst/>
          </a:prstGeom>
          <a:ln w="7620">
            <a:solidFill>
              <a:srgbClr val="D2DA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108960" y="3483864"/>
            <a:ext cx="2990088" cy="475488"/>
          </a:xfrm>
          <a:prstGeom prst="roundRect">
            <a:avLst>
              <a:gd name="adj" fmla="val 6000"/>
            </a:avLst>
          </a:prstGeom>
          <a:solidFill>
            <a:srgbClr val="D5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3611880"/>
            <a:ext cx="2798064" cy="210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0A6C73"/>
                </a:solidFill>
                <a:latin typeface="Arial"/>
              </a:defRPr>
            </a:pPr>
            <a:r>
              <a:t>Пары → личный массив сил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74536" y="3483864"/>
            <a:ext cx="292608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2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3611880"/>
            <a:ext cx="2761488" cy="210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02A"/>
                </a:solidFill>
                <a:latin typeface="Arial"/>
              </a:defRPr>
            </a:pPr>
            <a:r>
              <a:t>Собрать F → обновить тела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611880"/>
            <a:ext cx="1600200" cy="20116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36471"/>
                </a:solidFill>
                <a:latin typeface="Arial"/>
              </a:defRPr>
            </a:pPr>
            <a:r>
              <a:t>Ждать новый шаг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7" y="4169664"/>
            <a:ext cx="1280160" cy="2377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3202A"/>
                </a:solidFill>
                <a:latin typeface="Arial"/>
              </a:defRPr>
            </a:pPr>
            <a:r>
              <a:t>Рабочий 2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874519" y="4599432"/>
            <a:ext cx="9784081" cy="0"/>
          </a:xfrm>
          <a:prstGeom prst="line">
            <a:avLst/>
          </a:prstGeom>
          <a:ln w="7620">
            <a:solidFill>
              <a:srgbClr val="D2DA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108960" y="4059936"/>
            <a:ext cx="2990088" cy="475488"/>
          </a:xfrm>
          <a:prstGeom prst="roundRect">
            <a:avLst>
              <a:gd name="adj" fmla="val 6000"/>
            </a:avLst>
          </a:prstGeom>
          <a:solidFill>
            <a:srgbClr val="D5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0" y="4187952"/>
            <a:ext cx="2798064" cy="210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0A6C73"/>
                </a:solidFill>
                <a:latin typeface="Arial"/>
              </a:defRPr>
            </a:pPr>
            <a:r>
              <a:t>Пары → личный массив сил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74536" y="4059936"/>
            <a:ext cx="2926080" cy="475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2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56832" y="4187952"/>
            <a:ext cx="2761488" cy="210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3202A"/>
                </a:solidFill>
                <a:latin typeface="Arial"/>
              </a:defRPr>
            </a:pPr>
            <a:r>
              <a:t>Собрать F → обновить тела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4187952"/>
            <a:ext cx="1600200" cy="20116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36471"/>
                </a:solidFill>
                <a:latin typeface="Arial"/>
              </a:defRPr>
            </a:pPr>
            <a:r>
              <a:t>Ждать новый шаг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" y="4681728"/>
            <a:ext cx="11064240" cy="210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536471"/>
                </a:solidFill>
                <a:latin typeface="Arial"/>
              </a:defRPr>
            </a:pPr>
            <a:r>
              <a:t>Внутри каждого рабочего: строки пар i = rank, rank + P, …; обновляемые диапазоны тел не пересекаются.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157216"/>
            <a:ext cx="3803904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2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" y="5294376"/>
            <a:ext cx="3410712" cy="20116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536471"/>
                </a:solidFill>
                <a:latin typeface="Arial"/>
              </a:defRPr>
            </a:pPr>
            <a:r>
              <a:t>N = 128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088" y="5559552"/>
            <a:ext cx="3410712" cy="21945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13202A"/>
                </a:solidFill>
                <a:latin typeface="Arial"/>
              </a:defRPr>
            </a:pPr>
            <a:r>
              <a:t>Устойчивого выигрыша нет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498848" y="5157216"/>
            <a:ext cx="7187184" cy="713232"/>
          </a:xfrm>
          <a:prstGeom prst="roundRect">
            <a:avLst>
              <a:gd name="adj" fmla="val 8000"/>
            </a:avLst>
          </a:prstGeom>
          <a:solidFill>
            <a:srgbClr val="D5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5294376"/>
            <a:ext cx="6720840" cy="20116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0A6C73"/>
                </a:solidFill>
                <a:latin typeface="Arial"/>
              </a:defRPr>
            </a:pPr>
            <a:r>
              <a:t>N = 2048 · P = 8 · 0.609731 → 0.140641 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18304" y="5559552"/>
            <a:ext cx="6720840" cy="2286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A6C73"/>
                </a:solidFill>
                <a:latin typeface="Arial"/>
              </a:defRPr>
            </a:pPr>
            <a:r>
              <a:t>Ускорение 4.34×     Эффективность 54.2%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1207" y="6025896"/>
            <a:ext cx="11155680" cy="16459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36471"/>
                </a:solidFill>
                <a:latin typeface="Arial"/>
              </a:defRPr>
            </a:pPr>
            <a:r>
              <a:t>Intel i5-13420H · Windows 11 + WSL 2 · tend = 1, dt = 0.0625 · 1 прогрев + 5 повторов · средний Compute time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7" y="6217920"/>
            <a:ext cx="11155680" cy="16459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536471"/>
                </a:solidFill>
                <a:latin typeface="Arial"/>
              </a:defRPr>
            </a:pPr>
            <a:r>
              <a:t>Часы — внутри C (timer.h); Python — запуски, сравнение CSV и статистика. Схема фаз не изображает длительности.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2920" y="6437376"/>
            <a:ext cx="11183112" cy="0"/>
          </a:xfrm>
          <a:prstGeom prst="line">
            <a:avLst/>
          </a:prstGeom>
          <a:ln w="15240">
            <a:solidFill>
              <a:srgbClr val="D2DA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2920" y="6519672"/>
            <a:ext cx="8229600" cy="16459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36471"/>
                </a:solidFill>
                <a:latin typeface="Arial"/>
              </a:defRPr>
            </a:pPr>
            <a:r>
              <a:t>Артём Линник · 23КНТ3 · Лабораторная №1 / задача №2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92240"/>
            <a:ext cx="594360" cy="210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0A6C73"/>
                </a:solidFill>
                <a:latin typeface="Arial"/>
              </a:defRPr>
            </a:pPr>
            <a:r>
              <a:t>2 /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Задача N тел: ход работы программы</dc:title>
  <dc:subject>Два слайда для защиты лабораторной №1, задача №2</dc:subject>
  <dc:creator>Артём Линник, 23КНТ3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