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выполнял задачу номер два — моделирование гравитационного движения N тел. На вход подаются массы, начальные координаты и скорости тел, а также конечное время. Программа рассчитывает движение в трёх измерениях и сохраняет траектории в CSV.</a:t>
            </a:r>
          </a:p>
          <a:p/>
          <a:p>
            <a:r>
              <a:t>Силы рассчитываются по закону всемирного тяготения. Для движения используется явный метод Эйлера. На каждом шаге сначала находятся силы по старым координатам, затем обновляются положения и скорости. Координаты обязательно изменяются по старой скорости. Каждая пара тел рассматривается только один раз: сила прибавляется одному телу и вычитается у другого. Это использование третьего закона Ньютона уменьшает число вычислений взаимодействий вдвое.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Реализованы две версии на C: последовательная и параллельная с POSIX Threads. В параллельной версии рабочие потоки создаются один раз на всё моделирование. Строки перебора пар распределяются между ними циклически. Каждый поток сначала накапливает силы в своём массиве, поэтому при вычислении пар нет одновременной записи в общую сумму.</a:t>
            </a:r>
          </a:p>
          <a:p/>
          <a:p>
            <a:r>
              <a:t>Один объект барьера используется три раза за шаг. Первый проход разрешает начать расчёт, второй означает готовность всех сил, третий — готовность новых состояний. Между вторым и третьим проходами потоки складывают частичные силы и обновляют непересекающиеся диапазоны тел. После этого главный поток записывает CSV. Результаты двух версий сравниваются с численным допуском.</a:t>
            </a:r>
          </a:p>
          <a:p/>
          <a:p>
            <a:r>
              <a:t>Время измеряется внутри C-программ через timer.h. Отдельно выводится время вычислений и время с записью CSV. Для ускорения используется вычислительное время, которое в параллельной версии включает барьеры. Python нужен для повторных запусков, сравнения траекторий и расчёта статистики.</a:t>
            </a:r>
          </a:p>
          <a:p/>
          <a:p>
            <a:r>
              <a:t>Замеры выполнены на ноутбуке с Intel Core i5-13420H, в Ubuntu под WSL 2 на Windows 11. Сравнивались 128 и 2048 тел, последовательная версия и один, два, четыре и восемь рабочих потоков. Для каждой конфигурации выполнен один прогрев и пять измерений; в отчёте приведено среднее. Параметры серии: конечное время одна секунда, шаг 0,0625 секунды, то есть 16 шагов.</a:t>
            </a:r>
          </a:p>
          <a:p/>
          <a:p>
            <a:r>
              <a:t>Для 2048 тел на восьми потоках получено ускорение примерно в 4,34 раза и эффективность 54,2 процента. Для 128 тел устойчивого выигрыша нет: расходы на синхронизацию могут перекрывать пользу распараллеливания. Таким образом, среди проверенных вариантов распараллеливание полезно на большой задаче. Метод Эйлера остаётся приближённым: для большей точности нужно уменьшать шаг, а столкновения тел здесь не моделируются.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6C73"/>
                </a:solidFill>
                <a:latin typeface="Arial"/>
              </a:defRPr>
            </a:pPr>
            <a:r>
              <a:t>ЗАДАЧА №2 · N ТЕЛ · ПОСЛЕДОВАТЕЛЬНЫЙ РАСЧЁТ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201400" cy="6035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3202A"/>
                </a:solidFill>
                <a:latin typeface="Arial"/>
              </a:defRPr>
            </a:pPr>
            <a:r>
              <a:t>От начальных данных — к траектории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11183112" cy="594360"/>
          </a:xfrm>
          <a:prstGeom prst="roundRect">
            <a:avLst>
              <a:gd name="adj" fmla="val 8000"/>
            </a:avLst>
          </a:prstGeom>
          <a:solidFill>
            <a:srgbClr val="D5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36776"/>
            <a:ext cx="10789920" cy="2194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A6C73"/>
                </a:solidFill>
                <a:latin typeface="Arial"/>
              </a:defRPr>
            </a:pPr>
            <a:r>
              <a:t>Вход: N, массы, координаты, скорости, tend и dt. Сначала записывается состояние t =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23744"/>
            <a:ext cx="2596896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679192"/>
            <a:ext cx="45720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501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44952"/>
            <a:ext cx="2276856" cy="32918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02A"/>
                </a:solidFill>
                <a:latin typeface="Arial"/>
              </a:defRPr>
            </a:pPr>
            <a:r>
              <a:t>Шаг времени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602736"/>
            <a:ext cx="2267712" cy="56692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Выбрать next ≤ tend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h = next −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242816"/>
            <a:ext cx="2286000" cy="1463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Consolas"/>
              </a:defRPr>
            </a:pPr>
            <a:r>
              <a:t>Next_time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3172968" y="3300984"/>
            <a:ext cx="109728" cy="192024"/>
          </a:xfrm>
          <a:prstGeom prst="triangle">
            <a:avLst/>
          </a:prstGeom>
          <a:solidFill>
            <a:srgbClr val="0A6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1" y="2523744"/>
            <a:ext cx="2596896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2679192"/>
            <a:ext cx="45720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501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044952"/>
            <a:ext cx="2276856" cy="32918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02A"/>
                </a:solidFill>
                <a:latin typeface="Arial"/>
              </a:defRPr>
            </a:pPr>
            <a:r>
              <a:t>Силы всех пар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602736"/>
            <a:ext cx="2267712" cy="56692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Только i &lt; j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Одному +F, другому −F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242816"/>
            <a:ext cx="2286000" cy="1463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Consolas"/>
              </a:defRPr>
            </a:pPr>
            <a:r>
              <a:t>Compute_forces / Pair_force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6035040" y="3300984"/>
            <a:ext cx="109728" cy="192024"/>
          </a:xfrm>
          <a:prstGeom prst="triangle">
            <a:avLst/>
          </a:prstGeom>
          <a:solidFill>
            <a:srgbClr val="0A6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4" y="2523744"/>
            <a:ext cx="2596896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2679192"/>
            <a:ext cx="45720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501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044952"/>
            <a:ext cx="2276856" cy="32918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02A"/>
                </a:solidFill>
                <a:latin typeface="Arial"/>
              </a:defRPr>
            </a:pPr>
            <a:r>
              <a:t>Шаг Эйлера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3602736"/>
            <a:ext cx="2267712" cy="56692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Новые r и v —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по старому состоянию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4242816"/>
            <a:ext cx="2286000" cy="1463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Consolas"/>
              </a:defRPr>
            </a:pPr>
            <a:r>
              <a:t>Update_body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8897112" y="3300984"/>
            <a:ext cx="109728" cy="192024"/>
          </a:xfrm>
          <a:prstGeom prst="triangle">
            <a:avLst/>
          </a:prstGeom>
          <a:solidFill>
            <a:srgbClr val="0A6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9136" y="2523744"/>
            <a:ext cx="2596896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679192"/>
            <a:ext cx="45720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501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044952"/>
            <a:ext cx="2276856" cy="32918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02A"/>
                </a:solidFill>
                <a:latin typeface="Arial"/>
              </a:defRPr>
            </a:pPr>
            <a:r>
              <a:t>Строка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602736"/>
            <a:ext cx="2267712" cy="56692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Новое время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202A"/>
                </a:solidFill>
                <a:latin typeface="Arial"/>
              </a:defRPr>
            </a:pPr>
            <a:r>
              <a:t>и координаты всех тел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242816"/>
            <a:ext cx="2286000" cy="1463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Consolas"/>
              </a:defRPr>
            </a:pPr>
            <a:r>
              <a:t>Write_state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87584" y="4517136"/>
            <a:ext cx="0" cy="274320"/>
          </a:xfrm>
          <a:prstGeom prst="line">
            <a:avLst/>
          </a:prstGeom>
          <a:ln w="22860">
            <a:solidFill>
              <a:srgbClr val="0A6C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92224" y="4791456"/>
            <a:ext cx="8595360" cy="0"/>
          </a:xfrm>
          <a:prstGeom prst="line">
            <a:avLst/>
          </a:prstGeom>
          <a:ln w="22860">
            <a:solidFill>
              <a:srgbClr val="0A6C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792224" y="4562856"/>
            <a:ext cx="0" cy="228600"/>
          </a:xfrm>
          <a:prstGeom prst="line">
            <a:avLst/>
          </a:prstGeom>
          <a:ln w="22860">
            <a:solidFill>
              <a:srgbClr val="0A6C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>
            <a:off x="1728216" y="4517136"/>
            <a:ext cx="128016" cy="109728"/>
          </a:xfrm>
          <a:prstGeom prst="triangle">
            <a:avLst/>
          </a:prstGeom>
          <a:solidFill>
            <a:srgbClr val="0A6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882896"/>
            <a:ext cx="557784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A6C73"/>
                </a:solidFill>
                <a:latin typeface="Arial"/>
              </a:defRPr>
            </a:pPr>
            <a:r>
              <a:t>Повторять шаги, пока time &lt; tend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22392"/>
            <a:ext cx="11183112" cy="630936"/>
          </a:xfrm>
          <a:prstGeom prst="roundRect">
            <a:avLst>
              <a:gd name="adj" fmla="val 8000"/>
            </a:avLst>
          </a:prstGeom>
          <a:solidFill>
            <a:srgbClr val="14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14416"/>
            <a:ext cx="594360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r_new = r_old + v_old ·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614416"/>
            <a:ext cx="539496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v_new = v_old + (F_old / m) ·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" y="6163056"/>
            <a:ext cx="10972800" cy="16459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1"/>
                </a:solidFill>
                <a:latin typeface="Arial"/>
              </a:defRPr>
            </a:pPr>
            <a:r>
              <a:t>Физика — 3D. CSV по умолчанию: t,x1,y1,x2,y2,…; режим xyz сохраняет все координаты.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1524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Arial"/>
              </a:defRPr>
            </a:pPr>
            <a:r>
              <a:t>Артём Линник · 23КНТ3 · Лабораторная №1 / задача №2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594360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A6C73"/>
                </a:solidFill>
                <a:latin typeface="Arial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6C73"/>
                </a:solidFill>
                <a:latin typeface="Arial"/>
              </a:defRPr>
            </a:pPr>
            <a:r>
              <a:t>PTHREADS · ЛИЧНЫЕ МАССИВЫ СИЛ · ОДИН ОБЪЕКТ БАРЬЕРА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247120" cy="6035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3202A"/>
                </a:solidFill>
                <a:latin typeface="Arial"/>
              </a:defRPr>
            </a:pPr>
            <a:r>
              <a:t>Параллельный шаг: три общие встречи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53312"/>
            <a:ext cx="1106424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471"/>
                </a:solidFill>
                <a:latin typeface="Arial"/>
              </a:defRPr>
            </a:pPr>
            <a:r>
              <a:t>Схема фаз для P = 3: три рабочих + главный. Потоки создаются один раз на всё моделирование.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672" y="1810512"/>
            <a:ext cx="192024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6C73"/>
                </a:solidFill>
                <a:latin typeface="Arial"/>
              </a:defRPr>
            </a:pPr>
            <a:r>
              <a:t>1 · Старт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07792" y="2148840"/>
            <a:ext cx="0" cy="2386584"/>
          </a:xfrm>
          <a:prstGeom prst="line">
            <a:avLst/>
          </a:prstGeom>
          <a:ln w="16510">
            <a:solidFill>
              <a:srgbClr val="0A6C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0" y="1810512"/>
            <a:ext cx="192024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6C73"/>
                </a:solidFill>
                <a:latin typeface="Arial"/>
              </a:defRPr>
            </a:pPr>
            <a:r>
              <a:t>2 · Силы готовы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55080" y="2148840"/>
            <a:ext cx="0" cy="2386584"/>
          </a:xfrm>
          <a:prstGeom prst="line">
            <a:avLst/>
          </a:prstGeom>
          <a:ln w="16510">
            <a:solidFill>
              <a:srgbClr val="0A6C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1810512"/>
            <a:ext cx="192024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6C73"/>
                </a:solidFill>
                <a:latin typeface="Arial"/>
              </a:defRPr>
            </a:pPr>
            <a:r>
              <a:t>3 · Тела готовы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38360" y="2148840"/>
            <a:ext cx="0" cy="2386584"/>
          </a:xfrm>
          <a:prstGeom prst="line">
            <a:avLst/>
          </a:prstGeom>
          <a:ln w="16510">
            <a:solidFill>
              <a:srgbClr val="0A6C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207" y="2441448"/>
            <a:ext cx="128016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9501A"/>
                </a:solidFill>
                <a:latin typeface="Arial"/>
              </a:defRPr>
            </a:pPr>
            <a:r>
              <a:t>Главный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2871215"/>
            <a:ext cx="9784081" cy="0"/>
          </a:xfrm>
          <a:prstGeom prst="line">
            <a:avLst/>
          </a:prstGeom>
          <a:ln w="762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01952" y="2331720"/>
            <a:ext cx="777240" cy="475488"/>
          </a:xfrm>
          <a:prstGeom prst="roundRect">
            <a:avLst>
              <a:gd name="adj" fmla="val 6000"/>
            </a:avLst>
          </a:prstGeom>
          <a:solidFill>
            <a:srgbClr val="F6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2468879"/>
            <a:ext cx="704088" cy="18288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9501A"/>
                </a:solidFill>
                <a:latin typeface="Arial"/>
              </a:defRPr>
            </a:pPr>
            <a:r>
              <a:t>Задать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59736"/>
            <a:ext cx="2971800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471"/>
                </a:solidFill>
                <a:latin typeface="Arial"/>
              </a:defRPr>
            </a:pPr>
            <a:r>
              <a:t>Ожидает готовности сил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59736"/>
            <a:ext cx="2926080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471"/>
                </a:solidFill>
                <a:latin typeface="Arial"/>
              </a:defRPr>
            </a:pPr>
            <a:r>
              <a:t>Ожидает обновления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2331720"/>
            <a:ext cx="1399032" cy="475488"/>
          </a:xfrm>
          <a:prstGeom prst="roundRect">
            <a:avLst>
              <a:gd name="adj" fmla="val 6000"/>
            </a:avLst>
          </a:prstGeom>
          <a:solidFill>
            <a:srgbClr val="F6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688" y="2450591"/>
            <a:ext cx="1207008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501A"/>
                </a:solidFill>
                <a:latin typeface="Arial"/>
              </a:defRPr>
            </a:pPr>
            <a:r>
              <a:t>Записать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17520"/>
            <a:ext cx="128016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02A"/>
                </a:solidFill>
                <a:latin typeface="Arial"/>
              </a:defRPr>
            </a:pPr>
            <a:r>
              <a:t>Рабочий 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74519" y="3447288"/>
            <a:ext cx="9784081" cy="0"/>
          </a:xfrm>
          <a:prstGeom prst="line">
            <a:avLst/>
          </a:prstGeom>
          <a:ln w="762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08960" y="2907792"/>
            <a:ext cx="2990088" cy="475488"/>
          </a:xfrm>
          <a:prstGeom prst="roundRect">
            <a:avLst>
              <a:gd name="adj" fmla="val 6000"/>
            </a:avLst>
          </a:prstGeom>
          <a:solidFill>
            <a:srgbClr val="D5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035808"/>
            <a:ext cx="2798064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A6C73"/>
                </a:solidFill>
                <a:latin typeface="Arial"/>
              </a:defRPr>
            </a:pPr>
            <a:r>
              <a:t>Пары → личный массив сил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74536" y="2907792"/>
            <a:ext cx="29260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3035808"/>
            <a:ext cx="2761488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02A"/>
                </a:solidFill>
                <a:latin typeface="Arial"/>
              </a:defRPr>
            </a:pPr>
            <a:r>
              <a:t>Собрать F → обновить тела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035808"/>
            <a:ext cx="160020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1"/>
                </a:solidFill>
                <a:latin typeface="Arial"/>
              </a:defRPr>
            </a:pPr>
            <a:r>
              <a:t>Ждать новый шаг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593592"/>
            <a:ext cx="128016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02A"/>
                </a:solidFill>
                <a:latin typeface="Arial"/>
              </a:defRPr>
            </a:pPr>
            <a:r>
              <a:t>Рабочий 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74519" y="4023360"/>
            <a:ext cx="9784081" cy="0"/>
          </a:xfrm>
          <a:prstGeom prst="line">
            <a:avLst/>
          </a:prstGeom>
          <a:ln w="762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08960" y="3483864"/>
            <a:ext cx="2990088" cy="475488"/>
          </a:xfrm>
          <a:prstGeom prst="roundRect">
            <a:avLst>
              <a:gd name="adj" fmla="val 6000"/>
            </a:avLst>
          </a:prstGeom>
          <a:solidFill>
            <a:srgbClr val="D5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611880"/>
            <a:ext cx="2798064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A6C73"/>
                </a:solidFill>
                <a:latin typeface="Arial"/>
              </a:defRPr>
            </a:pPr>
            <a:r>
              <a:t>Пары → личный массив сил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74536" y="3483864"/>
            <a:ext cx="29260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3611880"/>
            <a:ext cx="2761488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02A"/>
                </a:solidFill>
                <a:latin typeface="Arial"/>
              </a:defRPr>
            </a:pPr>
            <a:r>
              <a:t>Собрать F → обновить тела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611880"/>
            <a:ext cx="160020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1"/>
                </a:solidFill>
                <a:latin typeface="Arial"/>
              </a:defRPr>
            </a:pPr>
            <a:r>
              <a:t>Ждать новый шаг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4169664"/>
            <a:ext cx="1280160" cy="2377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02A"/>
                </a:solidFill>
                <a:latin typeface="Arial"/>
              </a:defRPr>
            </a:pPr>
            <a:r>
              <a:t>Рабочий 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74519" y="4599432"/>
            <a:ext cx="9784081" cy="0"/>
          </a:xfrm>
          <a:prstGeom prst="line">
            <a:avLst/>
          </a:prstGeom>
          <a:ln w="762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108960" y="4059936"/>
            <a:ext cx="2990088" cy="475488"/>
          </a:xfrm>
          <a:prstGeom prst="roundRect">
            <a:avLst>
              <a:gd name="adj" fmla="val 6000"/>
            </a:avLst>
          </a:prstGeom>
          <a:solidFill>
            <a:srgbClr val="D5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4187952"/>
            <a:ext cx="2798064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A6C73"/>
                </a:solidFill>
                <a:latin typeface="Arial"/>
              </a:defRPr>
            </a:pPr>
            <a:r>
              <a:t>Пары → личный массив сил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74536" y="4059936"/>
            <a:ext cx="29260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4187952"/>
            <a:ext cx="2761488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02A"/>
                </a:solidFill>
                <a:latin typeface="Arial"/>
              </a:defRPr>
            </a:pPr>
            <a:r>
              <a:t>Собрать F → обновить тела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187952"/>
            <a:ext cx="160020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1"/>
                </a:solidFill>
                <a:latin typeface="Arial"/>
              </a:defRPr>
            </a:pPr>
            <a:r>
              <a:t>Ждать новый шаг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4681728"/>
            <a:ext cx="11064240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36471"/>
                </a:solidFill>
                <a:latin typeface="Arial"/>
              </a:defRPr>
            </a:pPr>
            <a:r>
              <a:t>Внутри каждого рабочего: строки пар i = rank, rank + P, …; обновляемые диапазоны тел не пересекаются.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57216"/>
            <a:ext cx="380390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294376"/>
            <a:ext cx="3410712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36471"/>
                </a:solidFill>
                <a:latin typeface="Arial"/>
              </a:defRPr>
            </a:pPr>
            <a:r>
              <a:t>N = 128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5559552"/>
            <a:ext cx="3410712" cy="2194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3202A"/>
                </a:solidFill>
                <a:latin typeface="Arial"/>
              </a:defRPr>
            </a:pPr>
            <a:r>
              <a:t>Устойчивого выигрыша нет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98848" y="5157216"/>
            <a:ext cx="7187184" cy="713232"/>
          </a:xfrm>
          <a:prstGeom prst="roundRect">
            <a:avLst>
              <a:gd name="adj" fmla="val 8000"/>
            </a:avLst>
          </a:prstGeom>
          <a:solidFill>
            <a:srgbClr val="D5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5294376"/>
            <a:ext cx="6720840" cy="2011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A6C73"/>
                </a:solidFill>
                <a:latin typeface="Arial"/>
              </a:defRPr>
            </a:pPr>
            <a:r>
              <a:t>N = 2048 · P = 8 · 0.609731 → 0.140641 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18304" y="5559552"/>
            <a:ext cx="6720840" cy="2286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A6C73"/>
                </a:solidFill>
                <a:latin typeface="Arial"/>
              </a:defRPr>
            </a:pPr>
            <a:r>
              <a:t>Ускорение 4.34×     Эффективность 54.2%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7" y="6025896"/>
            <a:ext cx="11155680" cy="16459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471"/>
                </a:solidFill>
                <a:latin typeface="Arial"/>
              </a:defRPr>
            </a:pPr>
            <a:r>
              <a:t>Intel i5-13420H · Windows 11 + WSL 2 · tend = 1, dt = 0.0625 · 1 прогрев + 5 повторов · средний Compute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" y="6217920"/>
            <a:ext cx="11155680" cy="16459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471"/>
                </a:solidFill>
                <a:latin typeface="Arial"/>
              </a:defRPr>
            </a:pPr>
            <a:r>
              <a:t>Часы — внутри C (timer.h); Python — запуски, сравнение CSV и статистика. Схема фаз не изображает длительности.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15240">
            <a:solidFill>
              <a:srgbClr val="D2DA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1"/>
                </a:solidFill>
                <a:latin typeface="Arial"/>
              </a:defRPr>
            </a:pPr>
            <a:r>
              <a:t>Артём Линник · 23КНТ3 · Лабораторная №1 / задача №2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92240"/>
            <a:ext cx="594360" cy="210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A6C73"/>
                </a:solidFill>
                <a:latin typeface="Arial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N тел: ход работы программы</dc:title>
  <dc:subject>Два слайда для защиты лабораторной №1, задача №2</dc:subject>
  <dc:creator>Артём Линник, 23КНТ3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